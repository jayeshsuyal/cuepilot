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591557c89c4e04" /><Relationship Type="http://schemas.openxmlformats.org/officeDocument/2006/relationships/extended-properties" Target="/docProps/app.xml" Id="R07be8d1e10cd484d" /><Relationship Type="http://schemas.openxmlformats.org/officeDocument/2006/relationships/officeDocument" Target="/ppt/presentation.xml" Id="R136435e0a0b44c4b" /></Relationships>
</file>

<file path=ppt/presentation.xml><?xml version="1.0" encoding="utf-8"?>
<p:presentation xmlns:p="http://schemas.openxmlformats.org/presentationml/2006/main">
  <p:sldMasterIdLst>
    <p:sldMasterId xmlns:r="http://schemas.openxmlformats.org/officeDocument/2006/relationships" id="2147483648" r:id="R22c59a5ba7774ddc"/>
  </p:sldMasterIdLst>
  <p:notesMasterIdLst>
    <p:notesMasterId xmlns:r="http://schemas.openxmlformats.org/officeDocument/2006/relationships" r:id="R0e6ceae3a4044e51"/>
  </p:notesMasterIdLst>
  <p:sldIdLst>
    <p:sldId xmlns:r="http://schemas.openxmlformats.org/officeDocument/2006/relationships" id="256" r:id="R19e853683be2494e"/>
    <p:sldId xmlns:r="http://schemas.openxmlformats.org/officeDocument/2006/relationships" id="257" r:id="R41dd8eca327a4b75"/>
    <p:sldId xmlns:r="http://schemas.openxmlformats.org/officeDocument/2006/relationships" id="258" r:id="R84edf502553347c5"/>
    <p:sldId xmlns:r="http://schemas.openxmlformats.org/officeDocument/2006/relationships" id="259" r:id="R68bd81a689aa4032"/>
    <p:sldId xmlns:r="http://schemas.openxmlformats.org/officeDocument/2006/relationships" id="260" r:id="Rf4637cba72e54b2b"/>
    <p:sldId xmlns:r="http://schemas.openxmlformats.org/officeDocument/2006/relationships" id="261" r:id="R6f31aa84e021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08ad4cf55492e" /><Relationship Type="http://schemas.openxmlformats.org/officeDocument/2006/relationships/slideMaster" Target="/ppt/slideMasters/slideMaster1.xml" Id="R22c59a5ba7774ddc" /><Relationship Type="http://schemas.openxmlformats.org/officeDocument/2006/relationships/notesMaster" Target="/ppt/notesMasters/notesMaster1.xml" Id="R0e6ceae3a4044e51" /><Relationship Type="http://schemas.openxmlformats.org/officeDocument/2006/relationships/presProps" Target="/ppt/presProps.xml" Id="R115ac79ae7184256" /><Relationship Type="http://schemas.openxmlformats.org/officeDocument/2006/relationships/tableStyles" Target="/ppt/tableStyles.xml" Id="Recd747994a034047" /><Relationship Type="http://schemas.openxmlformats.org/officeDocument/2006/relationships/slide" Target="/ppt/slides/slide1.xml" Id="R19e853683be2494e" /><Relationship Type="http://schemas.openxmlformats.org/officeDocument/2006/relationships/slide" Target="/ppt/slides/slide2.xml" Id="R41dd8eca327a4b75" /><Relationship Type="http://schemas.openxmlformats.org/officeDocument/2006/relationships/slide" Target="/ppt/slides/slide3.xml" Id="R84edf502553347c5" /><Relationship Type="http://schemas.openxmlformats.org/officeDocument/2006/relationships/slide" Target="/ppt/slides/slide4.xml" Id="R68bd81a689aa4032" /><Relationship Type="http://schemas.openxmlformats.org/officeDocument/2006/relationships/slide" Target="/ppt/slides/slide5.xml" Id="Rf4637cba72e54b2b" /><Relationship Type="http://schemas.openxmlformats.org/officeDocument/2006/relationships/slide" Target="/ppt/slides/slide6.xml" Id="R6f31aa84e021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3901d22be84a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9657ed2ba148ab" /><Relationship Type="http://schemas.openxmlformats.org/officeDocument/2006/relationships/notesMaster" Target="/ppt/notesMasters/notesMaster1.xml" Id="R9d93d63369f04a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5471e4455143fa" /><Relationship Type="http://schemas.openxmlformats.org/officeDocument/2006/relationships/notesMaster" Target="/ppt/notesMasters/notesMaster1.xml" Id="R1b7cde19c7f94b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487b9bd17f45da" /><Relationship Type="http://schemas.openxmlformats.org/officeDocument/2006/relationships/notesMaster" Target="/ppt/notesMasters/notesMaster1.xml" Id="Rad07888fbed44d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e1daef38ac48fe" /><Relationship Type="http://schemas.openxmlformats.org/officeDocument/2006/relationships/notesMaster" Target="/ppt/notesMasters/notesMaster1.xml" Id="R57af2d78d0204f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c1b06872604a51" /><Relationship Type="http://schemas.openxmlformats.org/officeDocument/2006/relationships/notesMaster" Target="/ppt/notesMasters/notesMaster1.xml" Id="R2b24c5825c3e40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205c1fc2204932" /><Relationship Type="http://schemas.openxmlformats.org/officeDocument/2006/relationships/notesMaster" Target="/ppt/notesMasters/notesMaster1.xml" Id="R2b6b02363e3b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1</a:t>
            </a:r>
          </a:p>
          <a:p xmlns:a="http://schemas.openxmlformats.org/drawingml/2006/main">
            <a:r>
              <a:t/>
            </a:r>
          </a:p>
          <a:p xmlns:a="http://schemas.openxmlformats.org/drawingml/2006/main">
            <a:r>
              <a:t>CuePilot turns an approved stage sequence into a reusable procedure, while checking what is true right now.</a:t>
            </a:r>
          </a:p>
          <a:p xmlns:a="http://schemas.openxmlformats.org/drawingml/2006/main">
            <a:r>
              <a:t/>
            </a:r>
          </a:p>
          <a:p xmlns:a="http://schemas.openxmlformats.org/drawingml/2006/main">
            <a:r>
              <a:t>Sources and evidence</a:t>
            </a:r>
          </a:p>
          <a:p xmlns:a="http://schemas.openxmlformats.org/drawingml/2006/main">
            <a:r>
              <a:t>Source: docs/cuepilot-architecture.md. Team: Jayesh Suyal and Omkar (oasb16).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2</a:t>
            </a:r>
          </a:p>
          <a:p xmlns:a="http://schemas.openxmlformats.org/drawingml/2006/main">
            <a:r>
              <a:t/>
            </a:r>
          </a:p>
          <a:p xmlns:a="http://schemas.openxmlformats.org/drawingml/2006/main">
            <a:r>
              <a:t>Live shows change between planning and execution. A missing presentation should stop the next cue, even after the introduction.</a:t>
            </a:r>
          </a:p>
          <a:p xmlns:a="http://schemas.openxmlformats.org/drawingml/2006/main">
            <a:r>
              <a:t/>
            </a:r>
          </a:p>
          <a:p xmlns:a="http://schemas.openxmlformats.org/drawingml/2006/main">
            <a:r>
              <a:t>Sources and evidence</a:t>
            </a:r>
          </a:p>
          <a:p xmlns:a="http://schemas.openxmlformats.org/drawingml/2006/main">
            <a:r>
              <a:t>Source: docs/cuepilot-architecture.md, interruption behavior. Screenshot, if present, comes from the actual CuePilot local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3</a:t>
            </a:r>
          </a:p>
          <a:p xmlns:a="http://schemas.openxmlformats.org/drawingml/2006/main">
            <a:r>
              <a:t/>
            </a:r>
          </a:p>
          <a:p xmlns:a="http://schemas.openxmlformats.org/drawingml/2006/main">
            <a:r>
              <a:t>Cognee extracts rules. Local HydraDB stores the graph. Hotdata checks fresh readiness. RocketRide orchestrates. Rote records and replays. Our API checks every cue.</a:t>
            </a:r>
          </a:p>
          <a:p xmlns:a="http://schemas.openxmlformats.org/drawingml/2006/main">
            <a:r>
              <a:t/>
            </a:r>
          </a:p>
          <a:p xmlns:a="http://schemas.openxmlformats.org/drawingml/2006/main">
            <a:r>
              <a:t>Sources and evidence</a:t>
            </a:r>
          </a:p>
          <a:p xmlns:a="http://schemas.openxmlformats.org/drawingml/2006/main">
            <a:r>
              <a:t>Sources: docs/cuepilot-architecture.md and docs/sponsor-readiness.md. Cognee hosted graph: 11 nodes and 16 edges. The graph is persisted and read back through local Hydra. All five live service paths passed at 22:35 UTC on 11 September 2026. Snyk is development security, not runtime cue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4</a:t>
            </a:r>
          </a:p>
          <a:p xmlns:a="http://schemas.openxmlformats.org/drawingml/2006/main">
            <a:r>
              <a:t/>
            </a:r>
          </a:p>
          <a:p xmlns:a="http://schemas.openxmlformats.org/drawingml/2006/main">
            <a:r>
              <a:t>Maya learned three cues. Ravi replayed the same package with three new receipts. Alex lost slides after introduction: presentation stopped, and the stage held.</a:t>
            </a:r>
          </a:p>
          <a:p xmlns:a="http://schemas.openxmlformats.org/drawingml/2006/main">
            <a:r>
              <a:t/>
            </a:r>
          </a:p>
          <a:p xmlns:a="http://schemas.openxmlformats.org/drawingml/2006/main">
            <a:r>
              <a:t>Sources and evidence</a:t>
            </a:r>
          </a:p>
          <a:p xmlns:a="http://schemas.openxmlformats.org/drawingml/2006/main">
            <a:r>
              <a:t>Source: docs/sponsor-readiness.md and cuepilot/.runtime/acceptance/20260911T223543.936639Z_fb0d972f96f14eb996f96ffb7669e690.json. Maya and Ravi each had three matched canonical receipts. Alex retained one intro receipt and held the stage. This proves procedure reuse and interruption behavior. It does not establish latency, cost or quality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5</a:t>
            </a:r>
          </a:p>
          <a:p xmlns:a="http://schemas.openxmlformats.org/drawingml/2006/main">
            <a:r>
              <a:t/>
            </a:r>
          </a:p>
          <a:p xmlns:a="http://schemas.openxmlformats.org/drawingml/2006/main">
            <a:r>
              <a:t>Operators approve the exact plan. We passed 212 backend tests. Snyk found no first-party source issues. Six dependency advisories remain open.</a:t>
            </a:r>
          </a:p>
          <a:p xmlns:a="http://schemas.openxmlformats.org/drawingml/2006/main">
            <a:r>
              <a:t/>
            </a:r>
          </a:p>
          <a:p xmlns:a="http://schemas.openxmlformats.org/drawingml/2006/main">
            <a:r>
              <a:t>Sources and evidence</a:t>
            </a:r>
          </a:p>
          <a:p xmlns:a="http://schemas.openxmlformats.org/drawingml/2006/main">
            <a:r>
              <a:t>Sources: docs/cuepilot-architecture.md, docs/sponsor-readiness.md and final backend test run evidence. 187 Python plus 25 Node tests equals 212 tests. Snyk source scan at 22:36 UTC, 11 September 2026: zero findings in first-party source scan scope. Six dependency advisories remain: one critical, three high, two medium. This does not establish an absence of vulnerabilities.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60-second pitch, slide 6</a:t>
            </a:r>
          </a:p>
          <a:p xmlns:a="http://schemas.openxmlformats.org/drawingml/2006/main">
            <a:r>
              <a:t/>
            </a:r>
          </a:p>
          <a:p xmlns:a="http://schemas.openxmlformats.org/drawingml/2006/main">
            <a:r>
              <a:t>CuePilot reuses the procedure and checks the moment. That is the demo: learned execution with current-state control.</a:t>
            </a:r>
          </a:p>
          <a:p xmlns:a="http://schemas.openxmlformats.org/drawingml/2006/main">
            <a:r>
              <a:t/>
            </a:r>
          </a:p>
          <a:p xmlns:a="http://schemas.openxmlformats.org/drawingml/2006/main">
            <a:r>
              <a:t>Sources and evidence</a:t>
            </a:r>
          </a:p>
          <a:p xmlns:a="http://schemas.openxmlformats.org/drawingml/2006/main">
            <a:r>
              <a:t>Source: docs/cuepilot-architecture.md. Demo scope: one introduction, presentation and holding segment. Private repository: jayeshsuyal/cuepilot. Local services and the authenticated bridge must remain running for this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58e1279a714e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12c21ebf964021" /><Relationship Type="http://schemas.openxmlformats.org/officeDocument/2006/relationships/slideLayout" Target="/ppt/slideLayouts/slideLayout1.xml" Id="R3e7ccc5c35a647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7ccc5c35a647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4030dd82024d55" /><Relationship Type="http://schemas.openxmlformats.org/officeDocument/2006/relationships/notesSlide" Target="/ppt/notesSlides/notesSlide1.xml" Id="Re0ebed4a797b42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ddbd95eded4777" /><Relationship Type="http://schemas.openxmlformats.org/officeDocument/2006/relationships/image" Target="/ppt/media/image.png" Id="Rae133eccb4a34f8c" /><Relationship Type="http://schemas.openxmlformats.org/officeDocument/2006/relationships/notesSlide" Target="/ppt/notesSlides/notesSlide2.xml" Id="R763447f04857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8bc5285ba74320" /><Relationship Type="http://schemas.openxmlformats.org/officeDocument/2006/relationships/notesSlide" Target="/ppt/notesSlides/notesSlide3.xml" Id="R64af864751f944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c8c6bd7db94216" /><Relationship Type="http://schemas.openxmlformats.org/officeDocument/2006/relationships/notesSlide" Target="/ppt/notesSlides/notesSlide4.xml" Id="R0c0e18f392824b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eed00185cd40ac" /><Relationship Type="http://schemas.openxmlformats.org/officeDocument/2006/relationships/notesSlide" Target="/ppt/notesSlides/notesSlide5.xml" Id="R28a7d5e4624a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ce4cc94e714bf1" /><Relationship Type="http://schemas.openxmlformats.org/officeDocument/2006/relationships/notesSlide" Target="/ppt/notesSlides/notesSlide6.xml" Id="R5c8ee79148af4c3c" /></Relationships>
</file>

<file path=ppt/slides/slide1.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4" name="product">
            <a:extLst xmlns:a="http://schemas.openxmlformats.org/drawingml/2006/main">
              <a:ext uri="{FF2B5EF4-FFF2-40B4-BE49-F238E27FC236}">
                <a16:creationId xmlns:a16="http://schemas.microsoft.com/office/drawing/2014/main" id="{E552DF01-B72D-4F2C-8E24-396CEC161B97}"/>
              </a:ext>
            </a:extLst>
          </p:cNvPr>
          <p:cNvSpPr>
            <a:spLocks xmlns:a="http://schemas.openxmlformats.org/drawingml/2006/main" noGrp="1"/>
          </p:cNvSpPr>
          <p:nvPr/>
        </p:nvSpPr>
        <p:spPr>
          <a:xfrm xmlns:a="http://schemas.openxmlformats.org/drawingml/2006/main">
            <a:off x="685800" y="2171700"/>
            <a:ext cx="108204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700" b="1">
                <a:solidFill>
                  <a:srgbClr val="B7CCA1"/>
                </a:solidFill>
                <a:latin typeface="Helvetica Neue"/>
                <a:ea typeface="Helvetica Neue"/>
                <a:cs typeface="Helvetica Neue"/>
              </a:defRPr>
            </a:pPr>
            <a:r>
              <a:rPr sz="8700" b="1">
                <a:solidFill>
                  <a:srgbClr val="B7CCA1"/>
                </a:solidFill>
                <a:latin typeface="Helvetica Neue"/>
                <a:ea typeface="Helvetica Neue"/>
                <a:cs typeface="Helvetica Neue"/>
              </a:rPr>
              <a:t>CuePilot</a:t>
            </a:r>
          </a:p>
        </p:txBody>
      </p:sp>
      <p:sp>
        <p:nvSpPr>
          <p:cNvPr id="2" name="promise">
            <a:extLst xmlns:a="http://schemas.openxmlformats.org/drawingml/2006/main">
              <a:ext uri="{FF2B5EF4-FFF2-40B4-BE49-F238E27FC236}">
                <a16:creationId xmlns:a16="http://schemas.microsoft.com/office/drawing/2014/main" id="{1C0E38D8-C420-44FB-BE11-707C94418F54}"/>
              </a:ext>
            </a:extLst>
          </p:cNvPr>
          <p:cNvSpPr>
            <a:spLocks xmlns:a="http://schemas.openxmlformats.org/drawingml/2006/main" noGrp="1"/>
          </p:cNvSpPr>
          <p:nvPr/>
        </p:nvSpPr>
        <p:spPr>
          <a:xfrm xmlns:a="http://schemas.openxmlformats.org/drawingml/2006/main">
            <a:off x="742950" y="37528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A live-show director that learns from rehearsal</a:t>
            </a:r>
          </a:p>
        </p:txBody>
      </p:sp>
      <p:sp>
        <p:nvSpPr>
          <p:cNvPr id="3" name="team">
            <a:extLst xmlns:a="http://schemas.openxmlformats.org/drawingml/2006/main">
              <a:ext uri="{FF2B5EF4-FFF2-40B4-BE49-F238E27FC236}">
                <a16:creationId xmlns:a16="http://schemas.microsoft.com/office/drawing/2014/main" id="{8B4220DD-FB3B-4B05-B741-905A75E25543}"/>
              </a:ext>
            </a:extLst>
          </p:cNvPr>
          <p:cNvSpPr>
            <a:spLocks xmlns:a="http://schemas.openxmlformats.org/drawingml/2006/main" noGrp="1"/>
          </p:cNvSpPr>
          <p:nvPr/>
        </p:nvSpPr>
        <p:spPr>
          <a:xfrm xmlns:a="http://schemas.openxmlformats.org/drawingml/2006/main">
            <a:off x="762000" y="59150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Jayesh Suyal + Omkar</a:t>
            </a:r>
          </a:p>
        </p:txBody>
      </p:sp>
    </p:spTree>
    <p:extLst>
      <p:ext uri="{BB962C8B-B14F-4D97-AF65-F5344CB8AC3E}">
        <p14:creationId xmlns:p14="http://schemas.microsoft.com/office/powerpoint/2010/main" val="13471413"/>
      </p:ext>
    </p:extLst>
  </p:cSld>
</p:sld>
</file>

<file path=ppt/slides/slide2.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268599-D6CE-4D9E-89AF-18C40464A745}"/>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The plan is ready. Is the stage?</a:t>
            </a:r>
          </a:p>
        </p:txBody>
      </p:sp>
      <p:sp>
        <p:nvSpPr>
          <p:cNvPr id="2" name="problem">
            <a:extLst xmlns:a="http://schemas.openxmlformats.org/drawingml/2006/main">
              <a:ext uri="{FF2B5EF4-FFF2-40B4-BE49-F238E27FC236}">
                <a16:creationId xmlns:a16="http://schemas.microsoft.com/office/drawing/2014/main" id="{999DFCAA-A996-48F9-A281-C3D36A8074C0}"/>
              </a:ext>
            </a:extLst>
          </p:cNvPr>
          <p:cNvSpPr>
            <a:spLocks xmlns:a="http://schemas.openxmlformats.org/drawingml/2006/main" noGrp="1"/>
          </p:cNvSpPr>
          <p:nvPr/>
        </p:nvSpPr>
        <p:spPr>
          <a:xfrm xmlns:a="http://schemas.openxmlformats.org/drawingml/2006/main">
            <a:off x="685800" y="2266950"/>
            <a:ext cx="323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EAECE6"/>
                </a:solidFill>
                <a:latin typeface="Helvetica Neue"/>
                <a:ea typeface="Helvetica Neue"/>
                <a:cs typeface="Helvetica Neue"/>
              </a:defRPr>
            </a:pPr>
            <a:r>
              <a:rPr sz="2625" b="1">
                <a:solidFill>
                  <a:srgbClr val="EAECE6"/>
                </a:solidFill>
                <a:latin typeface="Helvetica Neue"/>
                <a:ea typeface="Helvetica Neue"/>
                <a:cs typeface="Helvetica Neue"/>
              </a:rPr>
              <a:t>Slides can disappear</a:t>
            </a:r>
          </a:p>
          <a:p xmlns:a="http://schemas.openxmlformats.org/drawingml/2006/main">
            <a:pPr algn="l">
              <a:defRPr sz="2625" b="1">
                <a:solidFill>
                  <a:srgbClr val="EAECE6"/>
                </a:solidFill>
                <a:latin typeface="Helvetica Neue"/>
                <a:ea typeface="Helvetica Neue"/>
                <a:cs typeface="Helvetica Neue"/>
              </a:defRPr>
            </a:pPr>
            <a:r>
              <a:rPr sz="2625" b="1">
                <a:solidFill>
                  <a:srgbClr val="EAECE6"/>
                </a:solidFill>
                <a:latin typeface="Helvetica Neue"/>
                <a:ea typeface="Helvetica Neue"/>
                <a:cs typeface="Helvetica Neue"/>
              </a:rPr>
              <a:t>after the introduction.</a:t>
            </a:r>
          </a:p>
        </p:txBody>
      </p:sp>
      <p:sp>
        <p:nvSpPr>
          <p:cNvPr id="3" name="response">
            <a:extLst xmlns:a="http://schemas.openxmlformats.org/drawingml/2006/main">
              <a:ext uri="{FF2B5EF4-FFF2-40B4-BE49-F238E27FC236}">
                <a16:creationId xmlns:a16="http://schemas.microsoft.com/office/drawing/2014/main" id="{C4B0AC8C-9129-446D-A22C-21427C5B6BCA}"/>
              </a:ext>
            </a:extLst>
          </p:cNvPr>
          <p:cNvSpPr>
            <a:spLocks xmlns:a="http://schemas.openxmlformats.org/drawingml/2006/main" noGrp="1"/>
          </p:cNvSpPr>
          <p:nvPr/>
        </p:nvSpPr>
        <p:spPr>
          <a:xfrm xmlns:a="http://schemas.openxmlformats.org/drawingml/2006/main">
            <a:off x="685800" y="409575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B7CCA1"/>
                </a:solidFill>
                <a:latin typeface="Helvetica Neue"/>
                <a:ea typeface="Helvetica Neue"/>
                <a:cs typeface="Helvetica Neue"/>
              </a:defRPr>
            </a:pPr>
            <a:r>
              <a:rPr sz="2100" b="0">
                <a:solidFill>
                  <a:srgbClr val="B7CCA1"/>
                </a:solidFill>
                <a:latin typeface="Helvetica Neue"/>
                <a:ea typeface="Helvetica Neue"/>
                <a:cs typeface="Helvetica Neue"/>
              </a:rPr>
              <a:t>The next cue must stop.</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133eccb4a34f8c"/>
          <a:stretch xmlns:a="http://schemas.openxmlformats.org/drawingml/2006/main"/>
        </p:blipFill>
        <p:spPr>
          <a:xfrm xmlns:a="http://schemas.openxmlformats.org/drawingml/2006/main">
            <a:off x="4362754" y="1724025"/>
            <a:ext cx="7133617" cy="4191000"/>
          </a:xfrm>
          <a:prstGeom xmlns:a="http://schemas.openxmlformats.org/drawingml/2006/main" prst="rect">
            <a:avLst/>
          </a:prstGeom>
        </p:spPr>
      </p:pic>
      <p:sp>
        <p:nvSpPr>
          <p:cNvPr id="5" name="screenshot-caption">
            <a:extLst xmlns:a="http://schemas.openxmlformats.org/drawingml/2006/main">
              <a:ext uri="{FF2B5EF4-FFF2-40B4-BE49-F238E27FC236}">
                <a16:creationId xmlns:a16="http://schemas.microsoft.com/office/drawing/2014/main" id="{CB9ED9E5-BB9D-4DDD-B552-83A3CD53473E}"/>
              </a:ext>
            </a:extLst>
          </p:cNvPr>
          <p:cNvSpPr>
            <a:spLocks xmlns:a="http://schemas.openxmlformats.org/drawingml/2006/main" noGrp="1"/>
          </p:cNvSpPr>
          <p:nvPr/>
        </p:nvSpPr>
        <p:spPr>
          <a:xfrm xmlns:a="http://schemas.openxmlformats.org/drawingml/2006/main">
            <a:off x="4333875" y="6076950"/>
            <a:ext cx="719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Operator desk (practice view)</a:t>
            </a:r>
          </a:p>
        </p:txBody>
      </p:sp>
    </p:spTree>
    <p:extLst>
      <p:ext uri="{BB962C8B-B14F-4D97-AF65-F5344CB8AC3E}">
        <p14:creationId xmlns:p14="http://schemas.microsoft.com/office/powerpoint/2010/main" val="1473675949"/>
      </p:ext>
    </p:extLst>
  </p:cSld>
</p:sld>
</file>

<file path=ppt/slides/slide3.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26" name="title">
            <a:extLst xmlns:a="http://schemas.openxmlformats.org/drawingml/2006/main">
              <a:ext uri="{FF2B5EF4-FFF2-40B4-BE49-F238E27FC236}">
                <a16:creationId xmlns:a16="http://schemas.microsoft.com/office/drawing/2014/main" id="{BCA41FD9-29B1-40E7-9BDB-566F1323BE5F}"/>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CuePilot system</a:t>
            </a:r>
          </a:p>
        </p:txBody>
      </p:sp>
      <p:sp>
        <p:nvSpPr>
          <p:cNvPr id="2" name="cognee">
            <a:extLst xmlns:a="http://schemas.openxmlformats.org/drawingml/2006/main">
              <a:ext uri="{FF2B5EF4-FFF2-40B4-BE49-F238E27FC236}">
                <a16:creationId xmlns:a16="http://schemas.microsoft.com/office/drawing/2014/main" id="{105DF6A2-71ED-4746-BC7D-82DA51242AB3}"/>
              </a:ext>
            </a:extLst>
          </p:cNvPr>
          <p:cNvSpPr>
            <a:spLocks xmlns:a="http://schemas.openxmlformats.org/drawingml/2006/main" noGrp="1"/>
          </p:cNvSpPr>
          <p:nvPr/>
        </p:nvSpPr>
        <p:spPr>
          <a:xfrm xmlns:a="http://schemas.openxmlformats.org/drawingml/2006/main">
            <a:off x="2190750" y="1657350"/>
            <a:ext cx="2714625"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3" name="cognee-name">
            <a:extLst xmlns:a="http://schemas.openxmlformats.org/drawingml/2006/main">
              <a:ext uri="{FF2B5EF4-FFF2-40B4-BE49-F238E27FC236}">
                <a16:creationId xmlns:a16="http://schemas.microsoft.com/office/drawing/2014/main" id="{CB074377-A2C8-4060-B796-77962BA411FD}"/>
              </a:ext>
            </a:extLst>
          </p:cNvPr>
          <p:cNvSpPr>
            <a:spLocks xmlns:a="http://schemas.openxmlformats.org/drawingml/2006/main" noGrp="1"/>
          </p:cNvSpPr>
          <p:nvPr/>
        </p:nvSpPr>
        <p:spPr>
          <a:xfrm xmlns:a="http://schemas.openxmlformats.org/drawingml/2006/main">
            <a:off x="2381250" y="183832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Cognee</a:t>
            </a:r>
          </a:p>
        </p:txBody>
      </p:sp>
      <p:sp>
        <p:nvSpPr>
          <p:cNvPr id="4" name="cognee-description">
            <a:extLst xmlns:a="http://schemas.openxmlformats.org/drawingml/2006/main">
              <a:ext uri="{FF2B5EF4-FFF2-40B4-BE49-F238E27FC236}">
                <a16:creationId xmlns:a16="http://schemas.microsoft.com/office/drawing/2014/main" id="{3B9E4426-87FA-4194-8D9A-2A9BCAAEDF86}"/>
              </a:ext>
            </a:extLst>
          </p:cNvPr>
          <p:cNvSpPr>
            <a:spLocks xmlns:a="http://schemas.openxmlformats.org/drawingml/2006/main" noGrp="1"/>
          </p:cNvSpPr>
          <p:nvPr/>
        </p:nvSpPr>
        <p:spPr>
          <a:xfrm xmlns:a="http://schemas.openxmlformats.org/drawingml/2006/main">
            <a:off x="2381250" y="22288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Extracts rules</a:t>
            </a:r>
          </a:p>
        </p:txBody>
      </p:sp>
      <p:sp>
        <p:nvSpPr>
          <p:cNvPr id="5" name="hydra">
            <a:extLst xmlns:a="http://schemas.openxmlformats.org/drawingml/2006/main">
              <a:ext uri="{FF2B5EF4-FFF2-40B4-BE49-F238E27FC236}">
                <a16:creationId xmlns:a16="http://schemas.microsoft.com/office/drawing/2014/main" id="{EFB5C908-6EB1-4380-A3D3-E3988ED0A288}"/>
              </a:ext>
            </a:extLst>
          </p:cNvPr>
          <p:cNvSpPr>
            <a:spLocks xmlns:a="http://schemas.openxmlformats.org/drawingml/2006/main" noGrp="1"/>
          </p:cNvSpPr>
          <p:nvPr/>
        </p:nvSpPr>
        <p:spPr>
          <a:xfrm xmlns:a="http://schemas.openxmlformats.org/drawingml/2006/main">
            <a:off x="6296025" y="1657350"/>
            <a:ext cx="304800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6" name="hydra-name">
            <a:extLst xmlns:a="http://schemas.openxmlformats.org/drawingml/2006/main">
              <a:ext uri="{FF2B5EF4-FFF2-40B4-BE49-F238E27FC236}">
                <a16:creationId xmlns:a16="http://schemas.microsoft.com/office/drawing/2014/main" id="{6098926D-AE11-4788-AA73-DF47BE5039E4}"/>
              </a:ext>
            </a:extLst>
          </p:cNvPr>
          <p:cNvSpPr>
            <a:spLocks xmlns:a="http://schemas.openxmlformats.org/drawingml/2006/main" noGrp="1"/>
          </p:cNvSpPr>
          <p:nvPr/>
        </p:nvSpPr>
        <p:spPr>
          <a:xfrm xmlns:a="http://schemas.openxmlformats.org/drawingml/2006/main">
            <a:off x="6486525" y="1838325"/>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HydraDB (local)</a:t>
            </a:r>
          </a:p>
        </p:txBody>
      </p:sp>
      <p:sp>
        <p:nvSpPr>
          <p:cNvPr id="7" name="hydra-description">
            <a:extLst xmlns:a="http://schemas.openxmlformats.org/drawingml/2006/main">
              <a:ext uri="{FF2B5EF4-FFF2-40B4-BE49-F238E27FC236}">
                <a16:creationId xmlns:a16="http://schemas.microsoft.com/office/drawing/2014/main" id="{AB7274E9-7099-44EA-85A2-B0C97AD12C73}"/>
              </a:ext>
            </a:extLst>
          </p:cNvPr>
          <p:cNvSpPr>
            <a:spLocks xmlns:a="http://schemas.openxmlformats.org/drawingml/2006/main" noGrp="1"/>
          </p:cNvSpPr>
          <p:nvPr/>
        </p:nvSpPr>
        <p:spPr>
          <a:xfrm xmlns:a="http://schemas.openxmlformats.org/drawingml/2006/main">
            <a:off x="6486525" y="2228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Stores graph + outcomes</a:t>
            </a:r>
          </a:p>
        </p:txBody>
      </p:sp>
      <p:sp>
        <p:nvSpPr>
          <p:cNvPr id="8" name="rocketride">
            <a:extLst xmlns:a="http://schemas.openxmlformats.org/drawingml/2006/main">
              <a:ext uri="{FF2B5EF4-FFF2-40B4-BE49-F238E27FC236}">
                <a16:creationId xmlns:a16="http://schemas.microsoft.com/office/drawing/2014/main" id="{AD21EDAA-CA7E-43B1-B42D-90CA1D644D2D}"/>
              </a:ext>
            </a:extLst>
          </p:cNvPr>
          <p:cNvSpPr>
            <a:spLocks xmlns:a="http://schemas.openxmlformats.org/drawingml/2006/main" noGrp="1"/>
          </p:cNvSpPr>
          <p:nvPr/>
        </p:nvSpPr>
        <p:spPr>
          <a:xfrm xmlns:a="http://schemas.openxmlformats.org/drawingml/2006/main">
            <a:off x="685800" y="3343275"/>
            <a:ext cx="257175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9" name="rocketride-name">
            <a:extLst xmlns:a="http://schemas.openxmlformats.org/drawingml/2006/main">
              <a:ext uri="{FF2B5EF4-FFF2-40B4-BE49-F238E27FC236}">
                <a16:creationId xmlns:a16="http://schemas.microsoft.com/office/drawing/2014/main" id="{55E66D1D-7C6D-4D7C-A14B-26D044920637}"/>
              </a:ext>
            </a:extLst>
          </p:cNvPr>
          <p:cNvSpPr>
            <a:spLocks xmlns:a="http://schemas.openxmlformats.org/drawingml/2006/main" noGrp="1"/>
          </p:cNvSpPr>
          <p:nvPr/>
        </p:nvSpPr>
        <p:spPr>
          <a:xfrm xmlns:a="http://schemas.openxmlformats.org/drawingml/2006/main">
            <a:off x="876300" y="35242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RocketRide</a:t>
            </a:r>
          </a:p>
        </p:txBody>
      </p:sp>
      <p:sp>
        <p:nvSpPr>
          <p:cNvPr id="10" name="rocketride-description">
            <a:extLst xmlns:a="http://schemas.openxmlformats.org/drawingml/2006/main">
              <a:ext uri="{FF2B5EF4-FFF2-40B4-BE49-F238E27FC236}">
                <a16:creationId xmlns:a16="http://schemas.microsoft.com/office/drawing/2014/main" id="{4A4CE572-8C39-49B6-B0AA-137C0A0D4DA7}"/>
              </a:ext>
            </a:extLst>
          </p:cNvPr>
          <p:cNvSpPr>
            <a:spLocks xmlns:a="http://schemas.openxmlformats.org/drawingml/2006/main" noGrp="1"/>
          </p:cNvSpPr>
          <p:nvPr/>
        </p:nvSpPr>
        <p:spPr>
          <a:xfrm xmlns:a="http://schemas.openxmlformats.org/drawingml/2006/main">
            <a:off x="876300" y="39147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Orchestrates</a:t>
            </a:r>
          </a:p>
        </p:txBody>
      </p:sp>
      <p:sp>
        <p:nvSpPr>
          <p:cNvPr id="11" name="api">
            <a:extLst xmlns:a="http://schemas.openxmlformats.org/drawingml/2006/main">
              <a:ext uri="{FF2B5EF4-FFF2-40B4-BE49-F238E27FC236}">
                <a16:creationId xmlns:a16="http://schemas.microsoft.com/office/drawing/2014/main" id="{E27CD246-81E4-4582-BD1E-31CFB3F0BA11}"/>
              </a:ext>
            </a:extLst>
          </p:cNvPr>
          <p:cNvSpPr>
            <a:spLocks xmlns:a="http://schemas.openxmlformats.org/drawingml/2006/main" noGrp="1"/>
          </p:cNvSpPr>
          <p:nvPr/>
        </p:nvSpPr>
        <p:spPr>
          <a:xfrm xmlns:a="http://schemas.openxmlformats.org/drawingml/2006/main">
            <a:off x="4705350" y="3343275"/>
            <a:ext cx="2762250" cy="990600"/>
          </a:xfrm>
          <a:prstGeom xmlns:a="http://schemas.openxmlformats.org/drawingml/2006/main" prst="rect">
            <a:avLst/>
          </a:prstGeom>
          <a:solidFill xmlns:a="http://schemas.openxmlformats.org/drawingml/2006/main">
            <a:srgbClr val="B7CCA1"/>
          </a:solidFill>
          <a:ln xmlns:a="http://schemas.openxmlformats.org/drawingml/2006/main" w="14288">
            <a:solidFill>
              <a:srgbClr val="B7CCA1"/>
            </a:solidFill>
          </a:ln>
        </p:spPr>
      </p:sp>
      <p:sp>
        <p:nvSpPr>
          <p:cNvPr id="12" name="api-name">
            <a:extLst xmlns:a="http://schemas.openxmlformats.org/drawingml/2006/main">
              <a:ext uri="{FF2B5EF4-FFF2-40B4-BE49-F238E27FC236}">
                <a16:creationId xmlns:a16="http://schemas.microsoft.com/office/drawing/2014/main" id="{E68FB76C-5F81-42E6-8DC1-C89FD77737DE}"/>
              </a:ext>
            </a:extLst>
          </p:cNvPr>
          <p:cNvSpPr>
            <a:spLocks xmlns:a="http://schemas.openxmlformats.org/drawingml/2006/main" noGrp="1"/>
          </p:cNvSpPr>
          <p:nvPr/>
        </p:nvSpPr>
        <p:spPr>
          <a:xfrm xmlns:a="http://schemas.openxmlformats.org/drawingml/2006/main">
            <a:off x="4895850" y="35242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11311"/>
                </a:solidFill>
                <a:latin typeface="Helvetica Neue"/>
                <a:ea typeface="Helvetica Neue"/>
                <a:cs typeface="Helvetica Neue"/>
              </a:defRPr>
            </a:pPr>
            <a:r>
              <a:rPr sz="2175" b="1">
                <a:solidFill>
                  <a:srgbClr val="111311"/>
                </a:solidFill>
                <a:latin typeface="Helvetica Neue"/>
                <a:ea typeface="Helvetica Neue"/>
                <a:cs typeface="Helvetica Neue"/>
              </a:rPr>
              <a:t>CuePilot API</a:t>
            </a:r>
          </a:p>
        </p:txBody>
      </p:sp>
      <p:sp>
        <p:nvSpPr>
          <p:cNvPr id="13" name="api-description">
            <a:extLst xmlns:a="http://schemas.openxmlformats.org/drawingml/2006/main">
              <a:ext uri="{FF2B5EF4-FFF2-40B4-BE49-F238E27FC236}">
                <a16:creationId xmlns:a16="http://schemas.microsoft.com/office/drawing/2014/main" id="{0630A829-9B92-4A26-8190-0D921DE492A1}"/>
              </a:ext>
            </a:extLst>
          </p:cNvPr>
          <p:cNvSpPr>
            <a:spLocks xmlns:a="http://schemas.openxmlformats.org/drawingml/2006/main" noGrp="1"/>
          </p:cNvSpPr>
          <p:nvPr/>
        </p:nvSpPr>
        <p:spPr>
          <a:xfrm xmlns:a="http://schemas.openxmlformats.org/drawingml/2006/main">
            <a:off x="4895850" y="39147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11311"/>
                </a:solidFill>
                <a:latin typeface="Helvetica Neue"/>
                <a:ea typeface="Helvetica Neue"/>
                <a:cs typeface="Helvetica Neue"/>
              </a:defRPr>
            </a:pPr>
            <a:r>
              <a:rPr sz="1650" b="0">
                <a:solidFill>
                  <a:srgbClr val="111311"/>
                </a:solidFill>
                <a:latin typeface="Helvetica Neue"/>
                <a:ea typeface="Helvetica Neue"/>
                <a:cs typeface="Helvetica Neue"/>
              </a:rPr>
              <a:t>Checks every cue</a:t>
            </a:r>
          </a:p>
        </p:txBody>
      </p:sp>
      <p:sp>
        <p:nvSpPr>
          <p:cNvPr id="14" name="rote">
            <a:extLst xmlns:a="http://schemas.openxmlformats.org/drawingml/2006/main">
              <a:ext uri="{FF2B5EF4-FFF2-40B4-BE49-F238E27FC236}">
                <a16:creationId xmlns:a16="http://schemas.microsoft.com/office/drawing/2014/main" id="{778EFA1C-CF5F-44F1-9DBB-208788CDF578}"/>
              </a:ext>
            </a:extLst>
          </p:cNvPr>
          <p:cNvSpPr>
            <a:spLocks xmlns:a="http://schemas.openxmlformats.org/drawingml/2006/main" noGrp="1"/>
          </p:cNvSpPr>
          <p:nvPr/>
        </p:nvSpPr>
        <p:spPr>
          <a:xfrm xmlns:a="http://schemas.openxmlformats.org/drawingml/2006/main">
            <a:off x="8915400" y="3343275"/>
            <a:ext cx="259080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15" name="rote-name">
            <a:extLst xmlns:a="http://schemas.openxmlformats.org/drawingml/2006/main">
              <a:ext uri="{FF2B5EF4-FFF2-40B4-BE49-F238E27FC236}">
                <a16:creationId xmlns:a16="http://schemas.microsoft.com/office/drawing/2014/main" id="{A172D868-F446-42B3-B309-F04779734B7A}"/>
              </a:ext>
            </a:extLst>
          </p:cNvPr>
          <p:cNvSpPr>
            <a:spLocks xmlns:a="http://schemas.openxmlformats.org/drawingml/2006/main" noGrp="1"/>
          </p:cNvSpPr>
          <p:nvPr/>
        </p:nvSpPr>
        <p:spPr>
          <a:xfrm xmlns:a="http://schemas.openxmlformats.org/drawingml/2006/main">
            <a:off x="9105900" y="35242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Modiqo / Rote</a:t>
            </a:r>
          </a:p>
        </p:txBody>
      </p:sp>
      <p:sp>
        <p:nvSpPr>
          <p:cNvPr id="16" name="rote-description">
            <a:extLst xmlns:a="http://schemas.openxmlformats.org/drawingml/2006/main">
              <a:ext uri="{FF2B5EF4-FFF2-40B4-BE49-F238E27FC236}">
                <a16:creationId xmlns:a16="http://schemas.microsoft.com/office/drawing/2014/main" id="{B16240CC-BA0A-4C22-A44C-5760BC7F3CCB}"/>
              </a:ext>
            </a:extLst>
          </p:cNvPr>
          <p:cNvSpPr>
            <a:spLocks xmlns:a="http://schemas.openxmlformats.org/drawingml/2006/main" noGrp="1"/>
          </p:cNvSpPr>
          <p:nvPr/>
        </p:nvSpPr>
        <p:spPr>
          <a:xfrm xmlns:a="http://schemas.openxmlformats.org/drawingml/2006/main">
            <a:off x="9105900" y="3914775"/>
            <a:ext cx="2209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Records + replays</a:t>
            </a:r>
          </a:p>
        </p:txBody>
      </p:sp>
      <p:sp>
        <p:nvSpPr>
          <p:cNvPr id="17" name="hotdata">
            <a:extLst xmlns:a="http://schemas.openxmlformats.org/drawingml/2006/main">
              <a:ext uri="{FF2B5EF4-FFF2-40B4-BE49-F238E27FC236}">
                <a16:creationId xmlns:a16="http://schemas.microsoft.com/office/drawing/2014/main" id="{88FC8F97-7A05-4F58-A817-4C66E00C675C}"/>
              </a:ext>
            </a:extLst>
          </p:cNvPr>
          <p:cNvSpPr>
            <a:spLocks xmlns:a="http://schemas.openxmlformats.org/drawingml/2006/main" noGrp="1"/>
          </p:cNvSpPr>
          <p:nvPr/>
        </p:nvSpPr>
        <p:spPr>
          <a:xfrm xmlns:a="http://schemas.openxmlformats.org/drawingml/2006/main">
            <a:off x="4705350" y="5048250"/>
            <a:ext cx="2762250" cy="990600"/>
          </a:xfrm>
          <a:prstGeom xmlns:a="http://schemas.openxmlformats.org/drawingml/2006/main" prst="rect">
            <a:avLst/>
          </a:prstGeom>
          <a:solidFill xmlns:a="http://schemas.openxmlformats.org/drawingml/2006/main">
            <a:srgbClr val="1A1D19"/>
          </a:solidFill>
          <a:ln xmlns:a="http://schemas.openxmlformats.org/drawingml/2006/main" w="14288">
            <a:solidFill>
              <a:srgbClr val="434A3F"/>
            </a:solidFill>
          </a:ln>
        </p:spPr>
      </p:sp>
      <p:sp>
        <p:nvSpPr>
          <p:cNvPr id="18" name="hotdata-name">
            <a:extLst xmlns:a="http://schemas.openxmlformats.org/drawingml/2006/main">
              <a:ext uri="{FF2B5EF4-FFF2-40B4-BE49-F238E27FC236}">
                <a16:creationId xmlns:a16="http://schemas.microsoft.com/office/drawing/2014/main" id="{70AF47C6-F347-412C-ADD7-064FC0E377C7}"/>
              </a:ext>
            </a:extLst>
          </p:cNvPr>
          <p:cNvSpPr>
            <a:spLocks xmlns:a="http://schemas.openxmlformats.org/drawingml/2006/main" noGrp="1"/>
          </p:cNvSpPr>
          <p:nvPr/>
        </p:nvSpPr>
        <p:spPr>
          <a:xfrm xmlns:a="http://schemas.openxmlformats.org/drawingml/2006/main">
            <a:off x="4895850" y="52292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EAECE6"/>
                </a:solidFill>
                <a:latin typeface="Helvetica Neue"/>
                <a:ea typeface="Helvetica Neue"/>
                <a:cs typeface="Helvetica Neue"/>
              </a:defRPr>
            </a:pPr>
            <a:r>
              <a:rPr sz="2175" b="1">
                <a:solidFill>
                  <a:srgbClr val="EAECE6"/>
                </a:solidFill>
                <a:latin typeface="Helvetica Neue"/>
                <a:ea typeface="Helvetica Neue"/>
                <a:cs typeface="Helvetica Neue"/>
              </a:rPr>
              <a:t>hotdata.dev</a:t>
            </a:r>
          </a:p>
        </p:txBody>
      </p:sp>
      <p:sp>
        <p:nvSpPr>
          <p:cNvPr id="19" name="hotdata-description">
            <a:extLst xmlns:a="http://schemas.openxmlformats.org/drawingml/2006/main">
              <a:ext uri="{FF2B5EF4-FFF2-40B4-BE49-F238E27FC236}">
                <a16:creationId xmlns:a16="http://schemas.microsoft.com/office/drawing/2014/main" id="{0E306654-8452-4176-9C32-D546C63EA5A9}"/>
              </a:ext>
            </a:extLst>
          </p:cNvPr>
          <p:cNvSpPr>
            <a:spLocks xmlns:a="http://schemas.openxmlformats.org/drawingml/2006/main" noGrp="1"/>
          </p:cNvSpPr>
          <p:nvPr/>
        </p:nvSpPr>
        <p:spPr>
          <a:xfrm xmlns:a="http://schemas.openxmlformats.org/drawingml/2006/main">
            <a:off x="4895850" y="5619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9DA496"/>
                </a:solidFill>
                <a:latin typeface="Helvetica Neue"/>
                <a:ea typeface="Helvetica Neue"/>
                <a:cs typeface="Helvetica Neue"/>
              </a:defRPr>
            </a:pPr>
            <a:r>
              <a:rPr sz="1650" b="0">
                <a:solidFill>
                  <a:srgbClr val="9DA496"/>
                </a:solidFill>
                <a:latin typeface="Helvetica Neue"/>
                <a:ea typeface="Helvetica Neue"/>
                <a:cs typeface="Helvetica Neue"/>
              </a:rPr>
              <a:t>Queries fresh readiness</a:t>
            </a:r>
          </a:p>
        </p:txBody>
      </p:sp>
      <p:cxnSp>
        <p:nvCxnSpPr>
          <p:cNvPr id="45" name=""/>
          <p:cNvCxnSpPr>
            <a:stCxn xmlns:a="http://schemas.openxmlformats.org/drawingml/2006/main" id="2" idx="3"/>
            <a:endCxn xmlns:a="http://schemas.openxmlformats.org/drawingml/2006/main" id="5" idx="1"/>
          </p:cNvCxnSpPr>
          <p:nvPr/>
        </p:nvCxnSpPr>
        <p:spPr>
          <a:xfrm xmlns:a="http://schemas.openxmlformats.org/drawingml/2006/main">
            <a:off x="4905375" y="2152650"/>
            <a:ext cx="139065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6" name=""/>
          <p:cNvCxnSpPr>
            <a:stCxn xmlns:a="http://schemas.openxmlformats.org/drawingml/2006/main" id="5" idx="2"/>
            <a:endCxn xmlns:a="http://schemas.openxmlformats.org/drawingml/2006/main" id="11" idx="0"/>
          </p:cNvCxnSpPr>
          <p:nvPr/>
        </p:nvCxnSpPr>
        <p:spPr>
          <a:xfrm xmlns:a="http://schemas.openxmlformats.org/drawingml/2006/main" flipH="1">
            <a:off x="6086475" y="2647950"/>
            <a:ext cx="1733550" cy="695325"/>
          </a:xfrm>
          <a:prstGeom xmlns:a="http://schemas.openxmlformats.org/drawingml/2006/main" prst="bentConnector4">
            <a:avLst>
              <a:gd name="adj1" fmla="val 0"/>
              <a:gd name="adj2" fmla="val 50000"/>
            </a:avLst>
          </a:prstGeom>
          <a:ln xmlns:a="http://schemas.openxmlformats.org/drawingml/2006/main" w="19050">
            <a:solidFill>
              <a:srgbClr val="9DA496"/>
            </a:solidFill>
            <a:tailEnd type="triangle" w="sm" len="sm"/>
          </a:ln>
        </p:spPr>
      </p:cxn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3257550" y="3838575"/>
            <a:ext cx="144780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7467600" y="3838575"/>
            <a:ext cx="1447800" cy="0"/>
          </a:xfrm>
          <a:prstGeom xmlns:a="http://schemas.openxmlformats.org/drawingml/2006/main" prst="straightConnector1">
            <a:avLst/>
          </a:prstGeom>
          <a:ln xmlns:a="http://schemas.openxmlformats.org/drawingml/2006/main" w="19050">
            <a:solidFill>
              <a:srgbClr val="9DA496"/>
            </a:solidFill>
            <a:tailEnd type="triangle" w="sm" len="sm"/>
          </a:ln>
        </p:spPr>
      </p:cxnSp>
      <p:cxnSp>
        <p:nvCxnSpPr>
          <p:cNvPr id="49" name=""/>
          <p:cNvCxnSpPr>
            <a:stCxn xmlns:a="http://schemas.openxmlformats.org/drawingml/2006/main" id="17" idx="0"/>
            <a:endCxn xmlns:a="http://schemas.openxmlformats.org/drawingml/2006/main" id="11" idx="2"/>
          </p:cNvCxnSpPr>
          <p:nvPr/>
        </p:nvCxnSpPr>
        <p:spPr>
          <a:xfrm xmlns:a="http://schemas.openxmlformats.org/drawingml/2006/main" flipV="1">
            <a:off x="6086475" y="4333875"/>
            <a:ext cx="0" cy="714375"/>
          </a:xfrm>
          <a:prstGeom xmlns:a="http://schemas.openxmlformats.org/drawingml/2006/main" prst="straightConnector1">
            <a:avLst/>
          </a:prstGeom>
          <a:ln xmlns:a="http://schemas.openxmlformats.org/drawingml/2006/main" w="19050">
            <a:solidFill>
              <a:srgbClr val="9DA496"/>
            </a:solidFill>
            <a:tailEnd type="triangle" w="sm" len="sm"/>
          </a:ln>
        </p:spPr>
      </p:cxnSp>
      <p:sp>
        <p:nvSpPr>
          <p:cNvPr id="25" name="system-context">
            <a:extLst xmlns:a="http://schemas.openxmlformats.org/drawingml/2006/main">
              <a:ext uri="{FF2B5EF4-FFF2-40B4-BE49-F238E27FC236}">
                <a16:creationId xmlns:a16="http://schemas.microsoft.com/office/drawing/2014/main" id="{C5B1D9C8-43E0-4E77-9782-B4CEAC38A57D}"/>
              </a:ext>
            </a:extLst>
          </p:cNvPr>
          <p:cNvSpPr>
            <a:spLocks xmlns:a="http://schemas.openxmlformats.org/drawingml/2006/main" noGrp="1"/>
          </p:cNvSpPr>
          <p:nvPr/>
        </p:nvSpPr>
        <p:spPr>
          <a:xfrm xmlns:a="http://schemas.openxmlformats.org/drawingml/2006/main">
            <a:off x="685800" y="62674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Operator approves the exact plan before execution</a:t>
            </a:r>
          </a:p>
        </p:txBody>
      </p:sp>
    </p:spTree>
    <p:extLst>
      <p:ext uri="{BB962C8B-B14F-4D97-AF65-F5344CB8AC3E}">
        <p14:creationId xmlns:p14="http://schemas.microsoft.com/office/powerpoint/2010/main" val="1874393968"/>
      </p:ext>
    </p:extLst>
  </p:cSld>
</p:sld>
</file>

<file path=ppt/slides/slide4.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3E33E63B-5041-4F6A-ADA1-629F59D3B2FD}"/>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One procedure. Three live cases.</a:t>
            </a:r>
          </a:p>
        </p:txBody>
      </p:sp>
      <p:sp>
        <p:nvSpPr>
          <p:cNvPr id="2" name="maya-name">
            <a:extLst xmlns:a="http://schemas.openxmlformats.org/drawingml/2006/main">
              <a:ext uri="{FF2B5EF4-FFF2-40B4-BE49-F238E27FC236}">
                <a16:creationId xmlns:a16="http://schemas.microsoft.com/office/drawing/2014/main" id="{27019818-42FD-4FD6-935F-80CE138EF107}"/>
              </a:ext>
            </a:extLst>
          </p:cNvPr>
          <p:cNvSpPr>
            <a:spLocks xmlns:a="http://schemas.openxmlformats.org/drawingml/2006/main" noGrp="1"/>
          </p:cNvSpPr>
          <p:nvPr/>
        </p:nvSpPr>
        <p:spPr>
          <a:xfrm xmlns:a="http://schemas.openxmlformats.org/drawingml/2006/main">
            <a:off x="685800" y="200025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Maya</a:t>
            </a:r>
          </a:p>
        </p:txBody>
      </p:sp>
      <p:sp>
        <p:nvSpPr>
          <p:cNvPr id="3" name="maya-action">
            <a:extLst xmlns:a="http://schemas.openxmlformats.org/drawingml/2006/main">
              <a:ext uri="{FF2B5EF4-FFF2-40B4-BE49-F238E27FC236}">
                <a16:creationId xmlns:a16="http://schemas.microsoft.com/office/drawing/2014/main" id="{B4C99D20-14E3-47B9-994E-C74390D8E0C4}"/>
              </a:ext>
            </a:extLst>
          </p:cNvPr>
          <p:cNvSpPr>
            <a:spLocks xmlns:a="http://schemas.openxmlformats.org/drawingml/2006/main" noGrp="1"/>
          </p:cNvSpPr>
          <p:nvPr/>
        </p:nvSpPr>
        <p:spPr>
          <a:xfrm xmlns:a="http://schemas.openxmlformats.org/drawingml/2006/main">
            <a:off x="3200400" y="20478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Learned the sequence</a:t>
            </a:r>
          </a:p>
        </p:txBody>
      </p:sp>
      <p:sp>
        <p:nvSpPr>
          <p:cNvPr id="4" name="maya-result">
            <a:extLst xmlns:a="http://schemas.openxmlformats.org/drawingml/2006/main">
              <a:ext uri="{FF2B5EF4-FFF2-40B4-BE49-F238E27FC236}">
                <a16:creationId xmlns:a16="http://schemas.microsoft.com/office/drawing/2014/main" id="{2683C66A-57EB-409F-ABEF-B31BFAFF9F10}"/>
              </a:ext>
            </a:extLst>
          </p:cNvPr>
          <p:cNvSpPr>
            <a:spLocks xmlns:a="http://schemas.openxmlformats.org/drawingml/2006/main" noGrp="1"/>
          </p:cNvSpPr>
          <p:nvPr/>
        </p:nvSpPr>
        <p:spPr>
          <a:xfrm xmlns:a="http://schemas.openxmlformats.org/drawingml/2006/main">
            <a:off x="9344025" y="20478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B7CCA1"/>
                </a:solidFill>
                <a:latin typeface="Helvetica Neue"/>
                <a:ea typeface="Helvetica Neue"/>
                <a:cs typeface="Helvetica Neue"/>
              </a:defRPr>
            </a:pPr>
            <a:r>
              <a:rPr sz="2550" b="1">
                <a:solidFill>
                  <a:srgbClr val="B7CCA1"/>
                </a:solidFill>
                <a:latin typeface="Helvetica Neue"/>
                <a:ea typeface="Helvetica Neue"/>
                <a:cs typeface="Helvetica Neue"/>
              </a:rPr>
              <a:t>3 receipts</a:t>
            </a:r>
          </a:p>
        </p:txBody>
      </p:sp>
      <p:sp>
        <p:nvSpPr>
          <p:cNvPr id="5" name="ravi-name">
            <a:extLst xmlns:a="http://schemas.openxmlformats.org/drawingml/2006/main">
              <a:ext uri="{FF2B5EF4-FFF2-40B4-BE49-F238E27FC236}">
                <a16:creationId xmlns:a16="http://schemas.microsoft.com/office/drawing/2014/main" id="{DBA2ACA0-8F5D-41DA-908A-A8D88425BDD8}"/>
              </a:ext>
            </a:extLst>
          </p:cNvPr>
          <p:cNvSpPr>
            <a:spLocks xmlns:a="http://schemas.openxmlformats.org/drawingml/2006/main" noGrp="1"/>
          </p:cNvSpPr>
          <p:nvPr/>
        </p:nvSpPr>
        <p:spPr>
          <a:xfrm xmlns:a="http://schemas.openxmlformats.org/drawingml/2006/main">
            <a:off x="685800" y="3171825"/>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Ravi</a:t>
            </a:r>
          </a:p>
        </p:txBody>
      </p:sp>
      <p:sp>
        <p:nvSpPr>
          <p:cNvPr id="6" name="ravi-action">
            <a:extLst xmlns:a="http://schemas.openxmlformats.org/drawingml/2006/main">
              <a:ext uri="{FF2B5EF4-FFF2-40B4-BE49-F238E27FC236}">
                <a16:creationId xmlns:a16="http://schemas.microsoft.com/office/drawing/2014/main" id="{D6BE9970-215A-442A-AB38-80ABBF8D0A1E}"/>
              </a:ext>
            </a:extLst>
          </p:cNvPr>
          <p:cNvSpPr>
            <a:spLocks xmlns:a="http://schemas.openxmlformats.org/drawingml/2006/main" noGrp="1"/>
          </p:cNvSpPr>
          <p:nvPr/>
        </p:nvSpPr>
        <p:spPr>
          <a:xfrm xmlns:a="http://schemas.openxmlformats.org/drawingml/2006/main">
            <a:off x="3200400" y="32194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Replayed the same package</a:t>
            </a:r>
          </a:p>
        </p:txBody>
      </p:sp>
      <p:sp>
        <p:nvSpPr>
          <p:cNvPr id="7" name="ravi-result">
            <a:extLst xmlns:a="http://schemas.openxmlformats.org/drawingml/2006/main">
              <a:ext uri="{FF2B5EF4-FFF2-40B4-BE49-F238E27FC236}">
                <a16:creationId xmlns:a16="http://schemas.microsoft.com/office/drawing/2014/main" id="{B24702AA-75A1-418A-A744-F88BBF07E588}"/>
              </a:ext>
            </a:extLst>
          </p:cNvPr>
          <p:cNvSpPr>
            <a:spLocks xmlns:a="http://schemas.openxmlformats.org/drawingml/2006/main" noGrp="1"/>
          </p:cNvSpPr>
          <p:nvPr/>
        </p:nvSpPr>
        <p:spPr>
          <a:xfrm xmlns:a="http://schemas.openxmlformats.org/drawingml/2006/main">
            <a:off x="8810625" y="3219450"/>
            <a:ext cx="2714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B7CCA1"/>
                </a:solidFill>
                <a:latin typeface="Helvetica Neue"/>
                <a:ea typeface="Helvetica Neue"/>
                <a:cs typeface="Helvetica Neue"/>
              </a:defRPr>
            </a:pPr>
            <a:r>
              <a:rPr sz="2550" b="1">
                <a:solidFill>
                  <a:srgbClr val="B7CCA1"/>
                </a:solidFill>
                <a:latin typeface="Helvetica Neue"/>
                <a:ea typeface="Helvetica Neue"/>
                <a:cs typeface="Helvetica Neue"/>
              </a:rPr>
              <a:t>3 new receipts</a:t>
            </a:r>
          </a:p>
        </p:txBody>
      </p:sp>
      <p:sp>
        <p:nvSpPr>
          <p:cNvPr id="8" name="alex-name">
            <a:extLst xmlns:a="http://schemas.openxmlformats.org/drawingml/2006/main">
              <a:ext uri="{FF2B5EF4-FFF2-40B4-BE49-F238E27FC236}">
                <a16:creationId xmlns:a16="http://schemas.microsoft.com/office/drawing/2014/main" id="{10680721-32E0-4BAD-9229-08234A1391F0}"/>
              </a:ext>
            </a:extLst>
          </p:cNvPr>
          <p:cNvSpPr>
            <a:spLocks xmlns:a="http://schemas.openxmlformats.org/drawingml/2006/main" noGrp="1"/>
          </p:cNvSpPr>
          <p:nvPr/>
        </p:nvSpPr>
        <p:spPr>
          <a:xfrm xmlns:a="http://schemas.openxmlformats.org/drawingml/2006/main">
            <a:off x="685800" y="4343400"/>
            <a:ext cx="200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EAECE6"/>
                </a:solidFill>
                <a:latin typeface="Helvetica Neue"/>
                <a:ea typeface="Helvetica Neue"/>
                <a:cs typeface="Helvetica Neue"/>
              </a:defRPr>
            </a:pPr>
            <a:r>
              <a:rPr sz="3525" b="1">
                <a:solidFill>
                  <a:srgbClr val="EAECE6"/>
                </a:solidFill>
                <a:latin typeface="Helvetica Neue"/>
                <a:ea typeface="Helvetica Neue"/>
                <a:cs typeface="Helvetica Neue"/>
              </a:rPr>
              <a:t>Alex</a:t>
            </a:r>
          </a:p>
        </p:txBody>
      </p:sp>
      <p:sp>
        <p:nvSpPr>
          <p:cNvPr id="9" name="alex-action">
            <a:extLst xmlns:a="http://schemas.openxmlformats.org/drawingml/2006/main">
              <a:ext uri="{FF2B5EF4-FFF2-40B4-BE49-F238E27FC236}">
                <a16:creationId xmlns:a16="http://schemas.microsoft.com/office/drawing/2014/main" id="{EC67DEAA-877C-4B54-A2A4-32FE20CB61EE}"/>
              </a:ext>
            </a:extLst>
          </p:cNvPr>
          <p:cNvSpPr>
            <a:spLocks xmlns:a="http://schemas.openxmlformats.org/drawingml/2006/main" noGrp="1"/>
          </p:cNvSpPr>
          <p:nvPr/>
        </p:nvSpPr>
        <p:spPr>
          <a:xfrm xmlns:a="http://schemas.openxmlformats.org/drawingml/2006/main">
            <a:off x="3200400" y="43910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Lost slides after introduction</a:t>
            </a:r>
          </a:p>
        </p:txBody>
      </p:sp>
      <p:sp>
        <p:nvSpPr>
          <p:cNvPr id="10" name="alex-result">
            <a:extLst xmlns:a="http://schemas.openxmlformats.org/drawingml/2006/main">
              <a:ext uri="{FF2B5EF4-FFF2-40B4-BE49-F238E27FC236}">
                <a16:creationId xmlns:a16="http://schemas.microsoft.com/office/drawing/2014/main" id="{D0D35798-2D5F-4489-8941-96A014300BE5}"/>
              </a:ext>
            </a:extLst>
          </p:cNvPr>
          <p:cNvSpPr>
            <a:spLocks xmlns:a="http://schemas.openxmlformats.org/drawingml/2006/main" noGrp="1"/>
          </p:cNvSpPr>
          <p:nvPr/>
        </p:nvSpPr>
        <p:spPr>
          <a:xfrm xmlns:a="http://schemas.openxmlformats.org/drawingml/2006/main">
            <a:off x="9410700" y="4391025"/>
            <a:ext cx="2114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550" b="1">
                <a:solidFill>
                  <a:srgbClr val="EFBB74"/>
                </a:solidFill>
                <a:latin typeface="Helvetica Neue"/>
                <a:ea typeface="Helvetica Neue"/>
                <a:cs typeface="Helvetica Neue"/>
              </a:defRPr>
            </a:pPr>
            <a:r>
              <a:rPr sz="2550" b="1">
                <a:solidFill>
                  <a:srgbClr val="EFBB74"/>
                </a:solidFill>
                <a:latin typeface="Helvetica Neue"/>
                <a:ea typeface="Helvetica Neue"/>
                <a:cs typeface="Helvetica Neue"/>
              </a:rPr>
              <a:t>1 receipt</a:t>
            </a:r>
          </a:p>
        </p:txBody>
      </p:sp>
      <p:sp>
        <p:nvSpPr>
          <p:cNvPr id="11" name="alex-stop">
            <a:extLst xmlns:a="http://schemas.openxmlformats.org/drawingml/2006/main">
              <a:ext uri="{FF2B5EF4-FFF2-40B4-BE49-F238E27FC236}">
                <a16:creationId xmlns:a16="http://schemas.microsoft.com/office/drawing/2014/main" id="{2C19CF09-C023-4FB7-801C-8BFC59C48556}"/>
              </a:ext>
            </a:extLst>
          </p:cNvPr>
          <p:cNvSpPr>
            <a:spLocks xmlns:a="http://schemas.openxmlformats.org/drawingml/2006/main" noGrp="1"/>
          </p:cNvSpPr>
          <p:nvPr/>
        </p:nvSpPr>
        <p:spPr>
          <a:xfrm xmlns:a="http://schemas.openxmlformats.org/drawingml/2006/main">
            <a:off x="3200400" y="4895850"/>
            <a:ext cx="833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EFBB74"/>
                </a:solidFill>
                <a:latin typeface="Helvetica Neue"/>
                <a:ea typeface="Helvetica Neue"/>
                <a:cs typeface="Helvetica Neue"/>
              </a:defRPr>
            </a:pPr>
            <a:r>
              <a:rPr sz="2325" b="0">
                <a:solidFill>
                  <a:srgbClr val="EFBB74"/>
                </a:solidFill>
                <a:latin typeface="Helvetica Neue"/>
                <a:ea typeface="Helvetica Neue"/>
                <a:cs typeface="Helvetica Neue"/>
              </a:rPr>
              <a:t>Presentation stopped. Stage held.</a:t>
            </a:r>
          </a:p>
        </p:txBody>
      </p:sp>
      <p:sp>
        <p:nvSpPr>
          <p:cNvPr id="12" name="verified-time">
            <a:extLst xmlns:a="http://schemas.openxmlformats.org/drawingml/2006/main">
              <a:ext uri="{FF2B5EF4-FFF2-40B4-BE49-F238E27FC236}">
                <a16:creationId xmlns:a16="http://schemas.microsoft.com/office/drawing/2014/main" id="{474CEF1F-C20F-4914-B8EF-D40FA1EBE84D}"/>
              </a:ext>
            </a:extLst>
          </p:cNvPr>
          <p:cNvSpPr>
            <a:spLocks xmlns:a="http://schemas.openxmlformats.org/drawingml/2006/main" noGrp="1"/>
          </p:cNvSpPr>
          <p:nvPr/>
        </p:nvSpPr>
        <p:spPr>
          <a:xfrm xmlns:a="http://schemas.openxmlformats.org/drawingml/2006/main">
            <a:off x="685800" y="61626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9DA496"/>
                </a:solidFill>
                <a:latin typeface="Helvetica Neue"/>
                <a:ea typeface="Helvetica Neue"/>
                <a:cs typeface="Helvetica Neue"/>
              </a:defRPr>
            </a:pPr>
            <a:r>
              <a:rPr sz="1725" b="0">
                <a:solidFill>
                  <a:srgbClr val="9DA496"/>
                </a:solidFill>
                <a:latin typeface="Helvetica Neue"/>
                <a:ea typeface="Helvetica Neue"/>
                <a:cs typeface="Helvetica Neue"/>
              </a:rPr>
              <a:t>Live acceptance passed 11 September 2026, 22:35 UTC</a:t>
            </a:r>
          </a:p>
        </p:txBody>
      </p:sp>
    </p:spTree>
    <p:extLst>
      <p:ext uri="{BB962C8B-B14F-4D97-AF65-F5344CB8AC3E}">
        <p14:creationId xmlns:p14="http://schemas.microsoft.com/office/powerpoint/2010/main" val="1019610120"/>
      </p:ext>
    </p:extLst>
  </p:cSld>
</p:sld>
</file>

<file path=ppt/slides/slide5.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EDC0E27-E3B8-486C-9A8F-86C595D62E5B}"/>
              </a:ext>
            </a:extLst>
          </p:cNvPr>
          <p:cNvSpPr>
            <a:spLocks xmlns:a="http://schemas.openxmlformats.org/drawingml/2006/main" noGrp="1"/>
          </p:cNvSpPr>
          <p:nvPr/>
        </p:nvSpPr>
        <p:spPr>
          <a:xfrm xmlns:a="http://schemas.openxmlformats.org/drawingml/2006/main">
            <a:off x="685800" y="5238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EAECE6"/>
                </a:solidFill>
                <a:latin typeface="Helvetica Neue"/>
                <a:ea typeface="Helvetica Neue"/>
                <a:cs typeface="Helvetica Neue"/>
              </a:defRPr>
            </a:pPr>
            <a:r>
              <a:rPr sz="3750" b="1">
                <a:solidFill>
                  <a:srgbClr val="EAECE6"/>
                </a:solidFill>
                <a:latin typeface="Helvetica Neue"/>
                <a:ea typeface="Helvetica Neue"/>
                <a:cs typeface="Helvetica Neue"/>
              </a:rPr>
              <a:t>Approval stays in control</a:t>
            </a:r>
          </a:p>
        </p:txBody>
      </p:sp>
      <p:sp>
        <p:nvSpPr>
          <p:cNvPr id="2" name="guards">
            <a:extLst xmlns:a="http://schemas.openxmlformats.org/drawingml/2006/main">
              <a:ext uri="{FF2B5EF4-FFF2-40B4-BE49-F238E27FC236}">
                <a16:creationId xmlns:a16="http://schemas.microsoft.com/office/drawing/2014/main" id="{63ED168A-732F-4E43-8EA9-C98BB58E4D84}"/>
              </a:ext>
            </a:extLst>
          </p:cNvPr>
          <p:cNvSpPr>
            <a:spLocks xmlns:a="http://schemas.openxmlformats.org/drawingml/2006/main" noGrp="1"/>
          </p:cNvSpPr>
          <p:nvPr/>
        </p:nvSpPr>
        <p:spPr>
          <a:xfrm xmlns:a="http://schemas.openxmlformats.org/drawingml/2006/main">
            <a:off x="685800" y="2143125"/>
            <a:ext cx="6191250"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Exact plan approval</a:t>
            </a:r>
          </a:p>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Current readiness</a:t>
            </a:r>
          </a:p>
          <a:p xmlns:a="http://schemas.openxmlformats.org/drawingml/2006/main">
            <a:pPr algn="l">
              <a:defRPr sz="3075" b="1">
                <a:solidFill>
                  <a:srgbClr val="EAECE6"/>
                </a:solidFill>
                <a:latin typeface="Helvetica Neue"/>
                <a:ea typeface="Helvetica Neue"/>
                <a:cs typeface="Helvetica Neue"/>
              </a:defRPr>
            </a:pPr>
            <a:r>
              <a:rPr sz="3075" b="1">
                <a:solidFill>
                  <a:srgbClr val="EAECE6"/>
                </a:solidFill>
                <a:latin typeface="Helvetica Neue"/>
                <a:ea typeface="Helvetica Neue"/>
                <a:cs typeface="Helvetica Neue"/>
              </a:rPr>
              <a:t>Verified receipts</a:t>
            </a:r>
          </a:p>
        </p:txBody>
      </p:sp>
      <p:sp>
        <p:nvSpPr>
          <p:cNvPr id="3" name="tests-number">
            <a:extLst xmlns:a="http://schemas.openxmlformats.org/drawingml/2006/main">
              <a:ext uri="{FF2B5EF4-FFF2-40B4-BE49-F238E27FC236}">
                <a16:creationId xmlns:a16="http://schemas.microsoft.com/office/drawing/2014/main" id="{95AF868F-24C2-4D72-9694-2EBAC27808E7}"/>
              </a:ext>
            </a:extLst>
          </p:cNvPr>
          <p:cNvSpPr>
            <a:spLocks xmlns:a="http://schemas.openxmlformats.org/drawingml/2006/main" noGrp="1"/>
          </p:cNvSpPr>
          <p:nvPr/>
        </p:nvSpPr>
        <p:spPr>
          <a:xfrm xmlns:a="http://schemas.openxmlformats.org/drawingml/2006/main">
            <a:off x="8248650" y="2038350"/>
            <a:ext cx="3238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700" b="1">
                <a:solidFill>
                  <a:srgbClr val="B7CCA1"/>
                </a:solidFill>
                <a:latin typeface="Helvetica Neue"/>
                <a:ea typeface="Helvetica Neue"/>
                <a:cs typeface="Helvetica Neue"/>
              </a:defRPr>
            </a:pPr>
            <a:r>
              <a:rPr sz="8700" b="1">
                <a:solidFill>
                  <a:srgbClr val="B7CCA1"/>
                </a:solidFill>
                <a:latin typeface="Helvetica Neue"/>
                <a:ea typeface="Helvetica Neue"/>
                <a:cs typeface="Helvetica Neue"/>
              </a:rPr>
              <a:t>212</a:t>
            </a:r>
          </a:p>
        </p:txBody>
      </p:sp>
      <p:sp>
        <p:nvSpPr>
          <p:cNvPr id="4" name="tests-label">
            <a:extLst xmlns:a="http://schemas.openxmlformats.org/drawingml/2006/main">
              <a:ext uri="{FF2B5EF4-FFF2-40B4-BE49-F238E27FC236}">
                <a16:creationId xmlns:a16="http://schemas.microsoft.com/office/drawing/2014/main" id="{E045A94E-E63E-4623-9EA6-3AEF6CB4DFA7}"/>
              </a:ext>
            </a:extLst>
          </p:cNvPr>
          <p:cNvSpPr>
            <a:spLocks xmlns:a="http://schemas.openxmlformats.org/drawingml/2006/main" noGrp="1"/>
          </p:cNvSpPr>
          <p:nvPr/>
        </p:nvSpPr>
        <p:spPr>
          <a:xfrm xmlns:a="http://schemas.openxmlformats.org/drawingml/2006/main">
            <a:off x="7524750" y="3514725"/>
            <a:ext cx="400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2175" b="0">
                <a:solidFill>
                  <a:srgbClr val="B7CCA1"/>
                </a:solidFill>
                <a:latin typeface="Helvetica Neue"/>
                <a:ea typeface="Helvetica Neue"/>
                <a:cs typeface="Helvetica Neue"/>
              </a:defRPr>
            </a:pPr>
            <a:r>
              <a:rPr sz="2175" b="0">
                <a:solidFill>
                  <a:srgbClr val="B7CCA1"/>
                </a:solidFill>
                <a:latin typeface="Helvetica Neue"/>
                <a:ea typeface="Helvetica Neue"/>
                <a:cs typeface="Helvetica Neue"/>
              </a:rPr>
              <a:t>backend tests passed</a:t>
            </a:r>
          </a:p>
        </p:txBody>
      </p:sp>
      <p:sp>
        <p:nvSpPr>
          <p:cNvPr id="5" name="source">
            <a:extLst xmlns:a="http://schemas.openxmlformats.org/drawingml/2006/main">
              <a:ext uri="{FF2B5EF4-FFF2-40B4-BE49-F238E27FC236}">
                <a16:creationId xmlns:a16="http://schemas.microsoft.com/office/drawing/2014/main" id="{8FA746AD-EE5E-4ED2-B210-7BAA2D12B802}"/>
              </a:ext>
            </a:extLst>
          </p:cNvPr>
          <p:cNvSpPr>
            <a:spLocks xmlns:a="http://schemas.openxmlformats.org/drawingml/2006/main" noGrp="1"/>
          </p:cNvSpPr>
          <p:nvPr/>
        </p:nvSpPr>
        <p:spPr>
          <a:xfrm xmlns:a="http://schemas.openxmlformats.org/drawingml/2006/main">
            <a:off x="685800" y="52101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EAECE6"/>
                </a:solidFill>
                <a:latin typeface="Helvetica Neue"/>
                <a:ea typeface="Helvetica Neue"/>
                <a:cs typeface="Helvetica Neue"/>
              </a:defRPr>
            </a:pPr>
            <a:r>
              <a:rPr sz="2400" b="1">
                <a:solidFill>
                  <a:srgbClr val="EAECE6"/>
                </a:solidFill>
                <a:latin typeface="Helvetica Neue"/>
                <a:ea typeface="Helvetica Neue"/>
                <a:cs typeface="Helvetica Neue"/>
              </a:rPr>
              <a:t>Snyk: 0 first-party source findings</a:t>
            </a:r>
          </a:p>
        </p:txBody>
      </p:sp>
      <p:sp>
        <p:nvSpPr>
          <p:cNvPr id="6" name="dependencies">
            <a:extLst xmlns:a="http://schemas.openxmlformats.org/drawingml/2006/main">
              <a:ext uri="{FF2B5EF4-FFF2-40B4-BE49-F238E27FC236}">
                <a16:creationId xmlns:a16="http://schemas.microsoft.com/office/drawing/2014/main" id="{98BE94BE-6DB9-4CA1-AF08-841DD628F46B}"/>
              </a:ext>
            </a:extLst>
          </p:cNvPr>
          <p:cNvSpPr>
            <a:spLocks xmlns:a="http://schemas.openxmlformats.org/drawingml/2006/main" noGrp="1"/>
          </p:cNvSpPr>
          <p:nvPr/>
        </p:nvSpPr>
        <p:spPr>
          <a:xfrm xmlns:a="http://schemas.openxmlformats.org/drawingml/2006/main">
            <a:off x="685800" y="5762625"/>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EFBB74"/>
                </a:solidFill>
                <a:latin typeface="Helvetica Neue"/>
                <a:ea typeface="Helvetica Neue"/>
                <a:cs typeface="Helvetica Neue"/>
              </a:defRPr>
            </a:pPr>
            <a:r>
              <a:rPr sz="2100" b="0">
                <a:solidFill>
                  <a:srgbClr val="EFBB74"/>
                </a:solidFill>
                <a:latin typeface="Helvetica Neue"/>
                <a:ea typeface="Helvetica Neue"/>
                <a:cs typeface="Helvetica Neue"/>
              </a:rPr>
              <a:t>6 dependency advisories open</a:t>
            </a:r>
          </a:p>
        </p:txBody>
      </p:sp>
      <p:sp>
        <p:nvSpPr>
          <p:cNvPr id="7" name="severity">
            <a:extLst xmlns:a="http://schemas.openxmlformats.org/drawingml/2006/main">
              <a:ext uri="{FF2B5EF4-FFF2-40B4-BE49-F238E27FC236}">
                <a16:creationId xmlns:a16="http://schemas.microsoft.com/office/drawing/2014/main" id="{315199F3-48AA-447B-BD61-7148221C151A}"/>
              </a:ext>
            </a:extLst>
          </p:cNvPr>
          <p:cNvSpPr>
            <a:spLocks xmlns:a="http://schemas.openxmlformats.org/drawingml/2006/main" noGrp="1"/>
          </p:cNvSpPr>
          <p:nvPr/>
        </p:nvSpPr>
        <p:spPr>
          <a:xfrm xmlns:a="http://schemas.openxmlformats.org/drawingml/2006/main">
            <a:off x="7286625" y="5810250"/>
            <a:ext cx="4210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b="0">
                <a:solidFill>
                  <a:srgbClr val="EFBB74"/>
                </a:solidFill>
                <a:latin typeface="Helvetica Neue"/>
                <a:ea typeface="Helvetica Neue"/>
                <a:cs typeface="Helvetica Neue"/>
              </a:defRPr>
            </a:pPr>
            <a:r>
              <a:rPr sz="1800" b="0">
                <a:solidFill>
                  <a:srgbClr val="EFBB74"/>
                </a:solidFill>
                <a:latin typeface="Helvetica Neue"/>
                <a:ea typeface="Helvetica Neue"/>
                <a:cs typeface="Helvetica Neue"/>
              </a:rPr>
              <a:t>1 critical, 3 high, 2 medium</a:t>
            </a:r>
          </a:p>
        </p:txBody>
      </p:sp>
    </p:spTree>
    <p:extLst>
      <p:ext uri="{BB962C8B-B14F-4D97-AF65-F5344CB8AC3E}">
        <p14:creationId xmlns:p14="http://schemas.microsoft.com/office/powerpoint/2010/main" val="2049661265"/>
      </p:ext>
    </p:extLst>
  </p:cSld>
</p:sld>
</file>

<file path=ppt/slides/slide6.xml><?xml version="1.0" encoding="utf-8"?>
<p:sld xmlns:p="http://schemas.openxmlformats.org/presentationml/2006/main">
  <p:cSld>
    <p:bg>
      <p:bgPr>
        <a:solidFill xmlns:a="http://schemas.openxmlformats.org/drawingml/2006/main">
          <a:srgbClr val="111311"/>
        </a:solidFill>
      </p:bgPr>
    </p:bg>
    <p:spTree>
      <p:nvGrpSpPr>
        <p:cNvPr id="1" name=""/>
        <p:cNvGrpSpPr/>
        <p:nvPr/>
      </p:nvGrpSpPr>
      <p:grpSpPr>
        <a:xfrm xmlns:a="http://schemas.openxmlformats.org/drawingml/2006/main"/>
      </p:grpSpPr>
      <p:sp>
        <p:nvSpPr>
          <p:cNvPr id="5" name="closing-headline">
            <a:extLst xmlns:a="http://schemas.openxmlformats.org/drawingml/2006/main">
              <a:ext uri="{FF2B5EF4-FFF2-40B4-BE49-F238E27FC236}">
                <a16:creationId xmlns:a16="http://schemas.microsoft.com/office/drawing/2014/main" id="{083A8D2A-AAE7-4CAB-9FAA-DF8CF61B4871}"/>
              </a:ext>
            </a:extLst>
          </p:cNvPr>
          <p:cNvSpPr>
            <a:spLocks xmlns:a="http://schemas.openxmlformats.org/drawingml/2006/main" noGrp="1"/>
          </p:cNvSpPr>
          <p:nvPr/>
        </p:nvSpPr>
        <p:spPr>
          <a:xfrm xmlns:a="http://schemas.openxmlformats.org/drawingml/2006/main">
            <a:off x="685800" y="1676400"/>
            <a:ext cx="108204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475" b="1">
                <a:solidFill>
                  <a:srgbClr val="B7CCA1"/>
                </a:solidFill>
                <a:latin typeface="Helvetica Neue"/>
                <a:ea typeface="Helvetica Neue"/>
                <a:cs typeface="Helvetica Neue"/>
              </a:defRPr>
            </a:pPr>
            <a:r>
              <a:rPr sz="5475" b="1">
                <a:solidFill>
                  <a:srgbClr val="B7CCA1"/>
                </a:solidFill>
                <a:latin typeface="Helvetica Neue"/>
                <a:ea typeface="Helvetica Neue"/>
                <a:cs typeface="Helvetica Neue"/>
              </a:rPr>
              <a:t>Learn the sequence.</a:t>
            </a:r>
          </a:p>
          <a:p xmlns:a="http://schemas.openxmlformats.org/drawingml/2006/main">
            <a:pPr algn="l">
              <a:defRPr sz="5475" b="1">
                <a:solidFill>
                  <a:srgbClr val="B7CCA1"/>
                </a:solidFill>
                <a:latin typeface="Helvetica Neue"/>
                <a:ea typeface="Helvetica Neue"/>
                <a:cs typeface="Helvetica Neue"/>
              </a:defRPr>
            </a:pPr>
            <a:r>
              <a:rPr sz="5475" b="1">
                <a:solidFill>
                  <a:srgbClr val="B7CCA1"/>
                </a:solidFill>
                <a:latin typeface="Helvetica Neue"/>
                <a:ea typeface="Helvetica Neue"/>
                <a:cs typeface="Helvetica Neue"/>
              </a:rPr>
              <a:t>Check the moment.</a:t>
            </a:r>
          </a:p>
        </p:txBody>
      </p:sp>
      <p:sp>
        <p:nvSpPr>
          <p:cNvPr id="2" name="closing-body">
            <a:extLst xmlns:a="http://schemas.openxmlformats.org/drawingml/2006/main">
              <a:ext uri="{FF2B5EF4-FFF2-40B4-BE49-F238E27FC236}">
                <a16:creationId xmlns:a16="http://schemas.microsoft.com/office/drawing/2014/main" id="{16581C97-BF0F-4D02-8ED6-DAD52ABBB808}"/>
              </a:ext>
            </a:extLst>
          </p:cNvPr>
          <p:cNvSpPr>
            <a:spLocks xmlns:a="http://schemas.openxmlformats.org/drawingml/2006/main" noGrp="1"/>
          </p:cNvSpPr>
          <p:nvPr/>
        </p:nvSpPr>
        <p:spPr>
          <a:xfrm xmlns:a="http://schemas.openxmlformats.org/drawingml/2006/main">
            <a:off x="733425" y="41624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0">
                <a:solidFill>
                  <a:srgbClr val="EAECE6"/>
                </a:solidFill>
                <a:latin typeface="Helvetica Neue"/>
                <a:ea typeface="Helvetica Neue"/>
                <a:cs typeface="Helvetica Neue"/>
              </a:defRPr>
            </a:pPr>
            <a:r>
              <a:rPr sz="2625" b="0">
                <a:solidFill>
                  <a:srgbClr val="EAECE6"/>
                </a:solidFill>
                <a:latin typeface="Helvetica Neue"/>
                <a:ea typeface="Helvetica Neue"/>
                <a:cs typeface="Helvetica Neue"/>
              </a:rPr>
              <a:t>Reusable execution for changing shows.</a:t>
            </a:r>
          </a:p>
        </p:txBody>
      </p:sp>
      <p:sp>
        <p:nvSpPr>
          <p:cNvPr id="3" name="demo">
            <a:extLst xmlns:a="http://schemas.openxmlformats.org/drawingml/2006/main">
              <a:ext uri="{FF2B5EF4-FFF2-40B4-BE49-F238E27FC236}">
                <a16:creationId xmlns:a16="http://schemas.microsoft.com/office/drawing/2014/main" id="{BF196CD5-5127-4521-96BA-BE5369901569}"/>
              </a:ext>
            </a:extLst>
          </p:cNvPr>
          <p:cNvSpPr>
            <a:spLocks xmlns:a="http://schemas.openxmlformats.org/drawingml/2006/main" noGrp="1"/>
          </p:cNvSpPr>
          <p:nvPr/>
        </p:nvSpPr>
        <p:spPr>
          <a:xfrm xmlns:a="http://schemas.openxmlformats.org/drawingml/2006/main">
            <a:off x="752475" y="5857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EAECE6"/>
                </a:solidFill>
                <a:latin typeface="Helvetica Neue"/>
                <a:ea typeface="Helvetica Neue"/>
                <a:cs typeface="Helvetica Neue"/>
              </a:defRPr>
            </a:pPr>
            <a:r>
              <a:rPr sz="1950" b="1">
                <a:solidFill>
                  <a:srgbClr val="EAECE6"/>
                </a:solidFill>
                <a:latin typeface="Helvetica Neue"/>
                <a:ea typeface="Helvetica Neue"/>
                <a:cs typeface="Helvetica Neue"/>
              </a:rPr>
              <a:t>CuePilot live demo</a:t>
            </a:r>
          </a:p>
        </p:txBody>
      </p:sp>
      <p:sp>
        <p:nvSpPr>
          <p:cNvPr id="4" name="team">
            <a:extLst xmlns:a="http://schemas.openxmlformats.org/drawingml/2006/main">
              <a:ext uri="{FF2B5EF4-FFF2-40B4-BE49-F238E27FC236}">
                <a16:creationId xmlns:a16="http://schemas.microsoft.com/office/drawing/2014/main" id="{D9C06EC2-2EF8-4B72-BB43-5DBD4A5EF7BC}"/>
              </a:ext>
            </a:extLst>
          </p:cNvPr>
          <p:cNvSpPr>
            <a:spLocks xmlns:a="http://schemas.openxmlformats.org/drawingml/2006/main" noGrp="1"/>
          </p:cNvSpPr>
          <p:nvPr/>
        </p:nvSpPr>
        <p:spPr>
          <a:xfrm xmlns:a="http://schemas.openxmlformats.org/drawingml/2006/main">
            <a:off x="6667500" y="5857875"/>
            <a:ext cx="483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b="0">
                <a:solidFill>
                  <a:srgbClr val="9DA496"/>
                </a:solidFill>
                <a:latin typeface="Helvetica Neue"/>
                <a:ea typeface="Helvetica Neue"/>
                <a:cs typeface="Helvetica Neue"/>
              </a:defRPr>
            </a:pPr>
            <a:r>
              <a:rPr sz="1800" b="0">
                <a:solidFill>
                  <a:srgbClr val="9DA496"/>
                </a:solidFill>
                <a:latin typeface="Helvetica Neue"/>
                <a:ea typeface="Helvetica Neue"/>
                <a:cs typeface="Helvetica Neue"/>
              </a:rPr>
              <a:t>Jayesh Suyal + Omkar</a:t>
            </a:r>
          </a:p>
        </p:txBody>
      </p:sp>
    </p:spTree>
    <p:extLst>
      <p:ext uri="{BB962C8B-B14F-4D97-AF65-F5344CB8AC3E}">
        <p14:creationId xmlns:p14="http://schemas.microsoft.com/office/powerpoint/2010/main" val="63838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2026-09-11T22:53:42.5150000Z</dcterms:created>
  <dcterms:modified xsi:type="dcterms:W3CDTF">2026-09-11T22:53:42.5150000Z</dcterms:modified>
</coreProperties>
</file>